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plotArea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72h ROC (primary)</c:v>
                </c:pt>
              </c:strCache>
            </c:strRef>
          </c:tx>
          <c:spPr>
            <a:ln w="25400">
              <a:solidFill>
                <a:srgbClr val="287E68"/>
              </a:solidFill>
            </a:ln>
          </c:spPr>
          <c:marker>
            <c:symbol val="none"/>
          </c:marker>
          <c:xVal>
            <c:numRef>
              <c:f>Sheet1!$A$2:$A$76</c:f>
              <c:numCache>
                <c:formatCode>General</c:formatCode>
                <c:ptCount val="75"/>
                <c:pt idx="0">
                  <c:v>0.0</c:v>
                </c:pt>
                <c:pt idx="1">
                  <c:v>0.128690036900369</c:v>
                </c:pt>
                <c:pt idx="2">
                  <c:v>0.1404520295202952</c:v>
                </c:pt>
                <c:pt idx="3">
                  <c:v>0.15544280442804428</c:v>
                </c:pt>
                <c:pt idx="4">
                  <c:v>0.1676660516605166</c:v>
                </c:pt>
                <c:pt idx="5">
                  <c:v>0.18357933579335795</c:v>
                </c:pt>
                <c:pt idx="6">
                  <c:v>0.20687269372693726</c:v>
                </c:pt>
                <c:pt idx="7">
                  <c:v>0.21356088560885608</c:v>
                </c:pt>
                <c:pt idx="8">
                  <c:v>0.2216328413284133</c:v>
                </c:pt>
                <c:pt idx="9">
                  <c:v>0.22693726937269373</c:v>
                </c:pt>
                <c:pt idx="10">
                  <c:v>0.23108856088560886</c:v>
                </c:pt>
                <c:pt idx="11">
                  <c:v>0.23662361623616235</c:v>
                </c:pt>
                <c:pt idx="12">
                  <c:v>0.24054428044280443</c:v>
                </c:pt>
                <c:pt idx="13">
                  <c:v>0.246309963099631</c:v>
                </c:pt>
                <c:pt idx="14">
                  <c:v>0.2585332103321033</c:v>
                </c:pt>
                <c:pt idx="15">
                  <c:v>0.26775830258302585</c:v>
                </c:pt>
                <c:pt idx="16">
                  <c:v>0.2742158671586716</c:v>
                </c:pt>
                <c:pt idx="17">
                  <c:v>0.30419741697416974</c:v>
                </c:pt>
                <c:pt idx="18">
                  <c:v>0.31595940959409596</c:v>
                </c:pt>
                <c:pt idx="19">
                  <c:v>0.3267988929889299</c:v>
                </c:pt>
                <c:pt idx="20">
                  <c:v>0.3440959409594096</c:v>
                </c:pt>
                <c:pt idx="21">
                  <c:v>0.35009225092250923</c:v>
                </c:pt>
                <c:pt idx="22">
                  <c:v>0.3671586715867159</c:v>
                </c:pt>
                <c:pt idx="23">
                  <c:v>0.3886070110701107</c:v>
                </c:pt>
                <c:pt idx="24">
                  <c:v>0.40313653136531363</c:v>
                </c:pt>
                <c:pt idx="25">
                  <c:v>0.4144372693726937</c:v>
                </c:pt>
                <c:pt idx="26">
                  <c:v>0.4331180811808118</c:v>
                </c:pt>
                <c:pt idx="27">
                  <c:v>0.4534132841328413</c:v>
                </c:pt>
                <c:pt idx="28">
                  <c:v>0.4709409594095941</c:v>
                </c:pt>
                <c:pt idx="29">
                  <c:v>0.5071494464944649</c:v>
                </c:pt>
                <c:pt idx="30">
                  <c:v>0.5161439114391144</c:v>
                </c:pt>
                <c:pt idx="31">
                  <c:v>0.5341328413284133</c:v>
                </c:pt>
                <c:pt idx="32">
                  <c:v>0.5562730627306273</c:v>
                </c:pt>
                <c:pt idx="33">
                  <c:v>0.5684963099630996</c:v>
                </c:pt>
                <c:pt idx="34">
                  <c:v>0.5821033210332104</c:v>
                </c:pt>
                <c:pt idx="35">
                  <c:v>0.6035516605166051</c:v>
                </c:pt>
                <c:pt idx="36">
                  <c:v>0.6183118081180812</c:v>
                </c:pt>
                <c:pt idx="37">
                  <c:v>0.6344557195571956</c:v>
                </c:pt>
                <c:pt idx="38">
                  <c:v>0.6565959409594095</c:v>
                </c:pt>
                <c:pt idx="39">
                  <c:v>0.6667435424354243</c:v>
                </c:pt>
                <c:pt idx="40">
                  <c:v>0.6752767527675276</c:v>
                </c:pt>
                <c:pt idx="41">
                  <c:v>0.690959409594096</c:v>
                </c:pt>
                <c:pt idx="42">
                  <c:v>0.6976476014760148</c:v>
                </c:pt>
                <c:pt idx="43">
                  <c:v>0.7034132841328413</c:v>
                </c:pt>
                <c:pt idx="44">
                  <c:v>0.7186346863468634</c:v>
                </c:pt>
                <c:pt idx="45">
                  <c:v>0.7287822878228782</c:v>
                </c:pt>
                <c:pt idx="46">
                  <c:v>0.738929889298893</c:v>
                </c:pt>
                <c:pt idx="47">
                  <c:v>0.7576107011070111</c:v>
                </c:pt>
                <c:pt idx="48">
                  <c:v>0.7642988929889298</c:v>
                </c:pt>
                <c:pt idx="49">
                  <c:v>0.7753690036900369</c:v>
                </c:pt>
                <c:pt idx="50">
                  <c:v>0.7917435424354243</c:v>
                </c:pt>
                <c:pt idx="51">
                  <c:v>0.7991236162361623</c:v>
                </c:pt>
                <c:pt idx="52">
                  <c:v>0.8041974169741697</c:v>
                </c:pt>
                <c:pt idx="53">
                  <c:v>0.8125</c:v>
                </c:pt>
                <c:pt idx="54">
                  <c:v>0.8196494464944649</c:v>
                </c:pt>
                <c:pt idx="55">
                  <c:v>0.8267988929889298</c:v>
                </c:pt>
                <c:pt idx="56">
                  <c:v>0.8316420664206642</c:v>
                </c:pt>
                <c:pt idx="57">
                  <c:v>0.8468634686346863</c:v>
                </c:pt>
                <c:pt idx="58">
                  <c:v>0.8558579335793358</c:v>
                </c:pt>
                <c:pt idx="59">
                  <c:v>0.8650830258302583</c:v>
                </c:pt>
                <c:pt idx="60">
                  <c:v>0.8701568265682657</c:v>
                </c:pt>
                <c:pt idx="61">
                  <c:v>0.8740774907749077</c:v>
                </c:pt>
                <c:pt idx="62">
                  <c:v>0.8846863468634686</c:v>
                </c:pt>
                <c:pt idx="63">
                  <c:v>0.8927583025830258</c:v>
                </c:pt>
                <c:pt idx="64">
                  <c:v>0.9022140221402214</c:v>
                </c:pt>
                <c:pt idx="65">
                  <c:v>0.9098247232472325</c:v>
                </c:pt>
                <c:pt idx="66">
                  <c:v>0.9142066420664207</c:v>
                </c:pt>
                <c:pt idx="67">
                  <c:v>0.9195110701107011</c:v>
                </c:pt>
                <c:pt idx="68">
                  <c:v>0.9649446494464945</c:v>
                </c:pt>
                <c:pt idx="69">
                  <c:v>0.9695571955719557</c:v>
                </c:pt>
                <c:pt idx="70">
                  <c:v>0.9734778597785978</c:v>
                </c:pt>
                <c:pt idx="71">
                  <c:v>0.9801660516605166</c:v>
                </c:pt>
                <c:pt idx="72">
                  <c:v>0.9829335793357934</c:v>
                </c:pt>
                <c:pt idx="73">
                  <c:v>0.985009225092251</c:v>
                </c:pt>
                <c:pt idx="74">
                  <c:v>1.0</c:v>
                </c:pt>
              </c:numCache>
            </c:numRef>
          </c:xVal>
          <c:yVal>
            <c:numRef>
              <c:f>Sheet1!$B$2:$B$76</c:f>
              <c:numCache>
                <c:formatCode>General</c:formatCode>
                <c:ptCount val="75"/>
                <c:pt idx="0">
                  <c:v>0.0</c:v>
                </c:pt>
                <c:pt idx="1">
                  <c:v>0.008264462809917356</c:v>
                </c:pt>
                <c:pt idx="2">
                  <c:v>0.02203856749311295</c:v>
                </c:pt>
                <c:pt idx="3">
                  <c:v>0.03305785123966942</c:v>
                </c:pt>
                <c:pt idx="4">
                  <c:v>0.046831955922865015</c:v>
                </c:pt>
                <c:pt idx="5">
                  <c:v>0.05785123966942149</c:v>
                </c:pt>
                <c:pt idx="6">
                  <c:v>0.07162534435261708</c:v>
                </c:pt>
                <c:pt idx="7">
                  <c:v>0.0881542699724518</c:v>
                </c:pt>
                <c:pt idx="8">
                  <c:v>0.10192837465564739</c:v>
                </c:pt>
                <c:pt idx="9">
                  <c:v>0.11570247933884298</c:v>
                </c:pt>
                <c:pt idx="10">
                  <c:v>0.12947658402203857</c:v>
                </c:pt>
                <c:pt idx="11">
                  <c:v>0.14049586776859505</c:v>
                </c:pt>
                <c:pt idx="12">
                  <c:v>0.15702479338842976</c:v>
                </c:pt>
                <c:pt idx="13">
                  <c:v>0.16804407713498623</c:v>
                </c:pt>
                <c:pt idx="14">
                  <c:v>0.18181818181818182</c:v>
                </c:pt>
                <c:pt idx="15">
                  <c:v>0.19834710743801653</c:v>
                </c:pt>
                <c:pt idx="16">
                  <c:v>0.209366391184573</c:v>
                </c:pt>
                <c:pt idx="17">
                  <c:v>0.22038567493112948</c:v>
                </c:pt>
                <c:pt idx="18">
                  <c:v>0.23415977961432508</c:v>
                </c:pt>
                <c:pt idx="19">
                  <c:v>0.24242424242424243</c:v>
                </c:pt>
                <c:pt idx="20">
                  <c:v>0.256198347107438</c:v>
                </c:pt>
                <c:pt idx="21">
                  <c:v>0.2699724517906336</c:v>
                </c:pt>
                <c:pt idx="22">
                  <c:v>0.2809917355371901</c:v>
                </c:pt>
                <c:pt idx="23">
                  <c:v>0.2975206611570248</c:v>
                </c:pt>
                <c:pt idx="24">
                  <c:v>0.31129476584022037</c:v>
                </c:pt>
                <c:pt idx="25">
                  <c:v>0.32231404958677684</c:v>
                </c:pt>
                <c:pt idx="26">
                  <c:v>0.3333333333333333</c:v>
                </c:pt>
                <c:pt idx="27">
                  <c:v>0.34710743801652894</c:v>
                </c:pt>
                <c:pt idx="28">
                  <c:v>0.36363636363636365</c:v>
                </c:pt>
                <c:pt idx="29">
                  <c:v>0.3746556473829201</c:v>
                </c:pt>
                <c:pt idx="30">
                  <c:v>0.3884297520661157</c:v>
                </c:pt>
                <c:pt idx="31">
                  <c:v>0.4022038567493113</c:v>
                </c:pt>
                <c:pt idx="32">
                  <c:v>0.41597796143250687</c:v>
                </c:pt>
                <c:pt idx="33">
                  <c:v>0.42699724517906334</c:v>
                </c:pt>
                <c:pt idx="34">
                  <c:v>0.44077134986225897</c:v>
                </c:pt>
                <c:pt idx="35">
                  <c:v>0.45454545454545453</c:v>
                </c:pt>
                <c:pt idx="36">
                  <c:v>0.465564738292011</c:v>
                </c:pt>
                <c:pt idx="37">
                  <c:v>0.4793388429752066</c:v>
                </c:pt>
                <c:pt idx="38">
                  <c:v>0.4903581267217631</c:v>
                </c:pt>
                <c:pt idx="39">
                  <c:v>0.5013774104683195</c:v>
                </c:pt>
                <c:pt idx="40">
                  <c:v>0.512396694214876</c:v>
                </c:pt>
                <c:pt idx="41">
                  <c:v>0.5234159779614325</c:v>
                </c:pt>
                <c:pt idx="42">
                  <c:v>0.5344352617079889</c:v>
                </c:pt>
                <c:pt idx="43">
                  <c:v>0.5482093663911846</c:v>
                </c:pt>
                <c:pt idx="44">
                  <c:v>0.559228650137741</c:v>
                </c:pt>
                <c:pt idx="45">
                  <c:v>0.5757575757575758</c:v>
                </c:pt>
                <c:pt idx="46">
                  <c:v>0.5867768595041323</c:v>
                </c:pt>
                <c:pt idx="47">
                  <c:v>0.6005509641873278</c:v>
                </c:pt>
                <c:pt idx="48">
                  <c:v>0.6143250688705234</c:v>
                </c:pt>
                <c:pt idx="49">
                  <c:v>0.6253443526170799</c:v>
                </c:pt>
                <c:pt idx="50">
                  <c:v>0.6363636363636364</c:v>
                </c:pt>
                <c:pt idx="51">
                  <c:v>0.6528925619834711</c:v>
                </c:pt>
                <c:pt idx="52">
                  <c:v>0.6639118457300276</c:v>
                </c:pt>
                <c:pt idx="53">
                  <c:v>0.6831955922865014</c:v>
                </c:pt>
                <c:pt idx="54">
                  <c:v>0.696969696969697</c:v>
                </c:pt>
                <c:pt idx="55">
                  <c:v>0.7079889807162535</c:v>
                </c:pt>
                <c:pt idx="56">
                  <c:v>0.721763085399449</c:v>
                </c:pt>
                <c:pt idx="57">
                  <c:v>0.7327823691460055</c:v>
                </c:pt>
                <c:pt idx="58">
                  <c:v>0.7493112947658402</c:v>
                </c:pt>
                <c:pt idx="59">
                  <c:v>0.7630853994490359</c:v>
                </c:pt>
                <c:pt idx="60">
                  <c:v>0.7823691460055097</c:v>
                </c:pt>
                <c:pt idx="61">
                  <c:v>0.7961432506887053</c:v>
                </c:pt>
                <c:pt idx="62">
                  <c:v>0.8071625344352618</c:v>
                </c:pt>
                <c:pt idx="63">
                  <c:v>0.8181818181818182</c:v>
                </c:pt>
                <c:pt idx="64">
                  <c:v>0.8402203856749312</c:v>
                </c:pt>
                <c:pt idx="65">
                  <c:v>0.8512396694214877</c:v>
                </c:pt>
                <c:pt idx="66">
                  <c:v>0.8622589531680441</c:v>
                </c:pt>
                <c:pt idx="67">
                  <c:v>0.8842975206611571</c:v>
                </c:pt>
                <c:pt idx="68">
                  <c:v>0.8953168044077136</c:v>
                </c:pt>
                <c:pt idx="69">
                  <c:v>0.9090909090909091</c:v>
                </c:pt>
                <c:pt idx="70">
                  <c:v>0.9228650137741047</c:v>
                </c:pt>
                <c:pt idx="71">
                  <c:v>0.9393939393939394</c:v>
                </c:pt>
                <c:pt idx="72">
                  <c:v>0.9614325068870524</c:v>
                </c:pt>
                <c:pt idx="73">
                  <c:v>0.977961432506887</c:v>
                </c:pt>
                <c:pt idx="74">
                  <c:v>1.0</c:v>
                </c:pt>
              </c:numCache>
            </c:numRef>
          </c:yVal>
          <c:smooth val="0"/>
        </c:ser>
        <c:ser>
          <c:idx val="1"/>
          <c:order val="1"/>
          <c:tx>
            <c:strRef>
              <c:f>Sheet1!$B$78</c:f>
              <c:strCache>
                <c:ptCount val="1"/>
                <c:pt idx="0">
                  <c:v>Chance</c:v>
                </c:pt>
              </c:strCache>
            </c:strRef>
          </c:tx>
          <c:spPr>
            <a:ln>
              <a:solidFill>
                <a:srgbClr val="B8C6B4"/>
              </a:solidFill>
            </a:ln>
          </c:spPr>
          <c:marker>
            <c:symbol val="none"/>
          </c:marker>
          <c:xVal>
            <c:numRef>
              <c:f>Sheet1!$A$79:$A$80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Sheet1!$B$79:$B$80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0"/>
        </c:ser>
        <c:axId val="-2128940872"/>
        <c:axId val="-2129643912"/>
      </c:scatterChart>
      <c:valAx>
        <c:axId val="-2128940872"/>
        <c:scaling>
          <c:orientation val="minMax"/>
          <c:max val="1.0"/>
          <c:min val="0.0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Liberation Sans"/>
              </a:defRPr>
            </a:pPr>
          </a:p>
        </c:txPr>
        <c:crossAx val="-2129643912"/>
        <c:crosses val="autoZero"/>
        <c:crossBetween val="midCat"/>
      </c:valAx>
      <c:valAx>
        <c:axId val="-2129643912"/>
        <c:scaling>
          <c:orientation val="minMax"/>
          <c:max val="1.0"/>
          <c:min val="0.0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Liberation Sans"/>
              </a:defRPr>
            </a:pPr>
          </a:p>
        </c:txPr>
        <c:crossAx val="-2128940872"/>
        <c:crosses val="autoZero"/>
        <c:crossBetween val="midCat"/>
      </c:valAx>
    </c:plotArea>
    <c:legend>
      <c:legendPos val="b"/>
      <c:layout/>
      <c:overlay val="0"/>
      <c:txPr>
        <a:bodyPr/>
        <a:lstStyle/>
        <a:p>
          <a:pPr>
            <a:defRPr sz="900">
              <a:latin typeface="Liberation Sans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PranaGuard research prototype. All patient physiology/outcomes synthetic. No clinical validation. Use docs/demo/DEMO_SCRIPT.md for the timed narration. Actual metrics: artifacts/evaluation.json. Environmental attribution: Open-Meteo / CAMS, CC BY 4.0. Public repository/video status remains pending until actually verified.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chart" Target="../charts/char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CEE2A9"/>
                </a:solidFill>
                <a:latin typeface="Liberation Sans"/>
              </a:defRPr>
            </a:pPr>
            <a:r>
              <a:t>HAPPIEST HEALTH · DIGITAL TWIN CHALLENGE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FFFFFF"/>
                </a:solidFill>
                <a:latin typeface="Liberation Sans"/>
              </a:defRPr>
            </a:pP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9BB6A4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9BB6A4"/>
                </a:solidFill>
                <a:latin typeface="Liberation Sans"/>
              </a:defRPr>
            </a:pPr>
            <a:r>
              <a:t>01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80160"/>
            <a:ext cx="3246120" cy="292608"/>
          </a:xfrm>
          <a:prstGeom prst="roundRect">
            <a:avLst>
              <a:gd name="adj" fmla="val 12000"/>
            </a:avLst>
          </a:prstGeom>
          <a:solidFill>
            <a:srgbClr val="294F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7512" y="1339595"/>
            <a:ext cx="3063239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50" b="1">
                <a:solidFill>
                  <a:srgbClr val="CEE2A9"/>
                </a:solidFill>
                <a:latin typeface="Liberation Sans"/>
              </a:defRPr>
            </a:pPr>
            <a:r>
              <a:t>BODY × ENVIRONMENT DIGITAL TWIN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901952"/>
            <a:ext cx="82296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5900" b="1">
                <a:solidFill>
                  <a:srgbClr val="FFFFFF"/>
                </a:solidFill>
                <a:latin typeface="Liberation Sans"/>
              </a:defRPr>
            </a:pPr>
            <a:r>
              <a:t>PranaGuard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" y="3054096"/>
            <a:ext cx="7315200" cy="9601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700" b="0">
                <a:solidFill>
                  <a:srgbClr val="DDEBD2"/>
                </a:solidFill>
                <a:latin typeface="Liberation Sans"/>
              </a:defRPr>
            </a:pPr>
            <a:r>
              <a:t>A connected respiratory twin.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2700" b="0">
                <a:solidFill>
                  <a:srgbClr val="DDEBD2"/>
                </a:solidFill>
                <a:latin typeface="Liberation Sans"/>
              </a:defRPr>
            </a:pPr>
            <a:r>
              <a:t>An honest forecast of what comes next.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4434840"/>
            <a:ext cx="7315200" cy="5943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A9C8AE"/>
                </a:solidFill>
                <a:latin typeface="Liberation Sans"/>
              </a:defRPr>
            </a:pPr>
            <a:r>
              <a:t>COPD exacerbation forecasting · 24 / 48 / 72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413248"/>
            <a:ext cx="7680960" cy="6126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9FBCA8"/>
                </a:solidFill>
                <a:latin typeface="Liberation Sans"/>
              </a:defRPr>
            </a:pPr>
            <a:r>
              <a:t>[TEAM NAME PENDING]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9FBCA8"/>
                </a:solidFill>
                <a:latin typeface="Liberation Sans"/>
              </a:defRPr>
            </a:pPr>
            <a:r>
              <a:t>[COLLEGE / INCUBATOR PENDING]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217152" y="1965960"/>
            <a:ext cx="2176272" cy="731520"/>
          </a:xfrm>
          <a:prstGeom prst="roundRect">
            <a:avLst>
              <a:gd name="adj" fmla="val 12000"/>
            </a:avLst>
          </a:prstGeom>
          <a:solidFill>
            <a:srgbClr val="285346"/>
          </a:solidFill>
          <a:ln w="8890">
            <a:solidFill>
              <a:srgbClr val="3E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45752" y="2093976"/>
            <a:ext cx="1755648" cy="3931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400" b="1">
                <a:solidFill>
                  <a:srgbClr val="CEE2A9"/>
                </a:solidFill>
                <a:latin typeface="Liberation Sans"/>
              </a:defRPr>
            </a:pPr>
            <a:r>
              <a:t>24 hours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7152" y="2971800"/>
            <a:ext cx="2176272" cy="731520"/>
          </a:xfrm>
          <a:prstGeom prst="roundRect">
            <a:avLst>
              <a:gd name="adj" fmla="val 12000"/>
            </a:avLst>
          </a:prstGeom>
          <a:solidFill>
            <a:srgbClr val="285346"/>
          </a:solidFill>
          <a:ln w="8890">
            <a:solidFill>
              <a:srgbClr val="3E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45752" y="3099816"/>
            <a:ext cx="1755648" cy="3931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400" b="1">
                <a:solidFill>
                  <a:srgbClr val="CEE2A9"/>
                </a:solidFill>
                <a:latin typeface="Liberation Sans"/>
              </a:defRPr>
            </a:pPr>
            <a:r>
              <a:t>48 hours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217152" y="3977639"/>
            <a:ext cx="2176272" cy="731520"/>
          </a:xfrm>
          <a:prstGeom prst="roundRect">
            <a:avLst>
              <a:gd name="adj" fmla="val 12000"/>
            </a:avLst>
          </a:prstGeom>
          <a:solidFill>
            <a:srgbClr val="285346"/>
          </a:solidFill>
          <a:ln w="8890">
            <a:solidFill>
              <a:srgbClr val="3E69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445752" y="4105655"/>
            <a:ext cx="1755648" cy="3931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400" b="1">
                <a:solidFill>
                  <a:srgbClr val="CEE2A9"/>
                </a:solidFill>
                <a:latin typeface="Liberation Sans"/>
              </a:defRPr>
            </a:pPr>
            <a:r>
              <a:t>72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53728" y="5285232"/>
            <a:ext cx="2066543" cy="5486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100" b="0">
                <a:solidFill>
                  <a:srgbClr val="B7D0B4"/>
                </a:solidFill>
                <a:latin typeface="Liberation Sans"/>
              </a:defRPr>
            </a:pPr>
            <a:r>
              <a:t>All patients synthetic.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100" b="0">
                <a:solidFill>
                  <a:srgbClr val="B7D0B4"/>
                </a:solidFill>
                <a:latin typeface="Liberation Sans"/>
              </a:defRPr>
            </a:pPr>
            <a:r>
              <a:t>Not clinically validated.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01 / PROBLEM &amp; INDIAN HEALTHCARE USE 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Respiratory health is a moving picture.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444752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A clinician needs changing patient context, not another disconnected measurement.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02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0352" y="2103120"/>
            <a:ext cx="5303520" cy="1874519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19" y="2267712"/>
            <a:ext cx="4901183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1">
                <a:solidFill>
                  <a:srgbClr val="287E68"/>
                </a:solidFill>
                <a:latin typeface="Liberation Sans"/>
              </a:defRPr>
            </a:pPr>
            <a:r>
              <a:t>The clinical question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2788920"/>
            <a:ext cx="4901183" cy="10515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Could a personalized combination of history, body signals, symptoms and environment support an earlier review conversation?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0352" y="4224528"/>
            <a:ext cx="5303520" cy="1600200"/>
          </a:xfrm>
          <a:prstGeom prst="roundRect">
            <a:avLst>
              <a:gd name="adj" fmla="val 12000"/>
            </a:avLst>
          </a:prstGeom>
          <a:solidFill>
            <a:srgbClr val="F8EFE5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19" y="4389120"/>
            <a:ext cx="4901183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1">
                <a:solidFill>
                  <a:srgbClr val="B87561"/>
                </a:solidFill>
                <a:latin typeface="Liberation Sans"/>
              </a:defRPr>
            </a:pPr>
            <a:r>
              <a:t>The prototype boundary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19" y="4910328"/>
            <a:ext cx="4901183" cy="7772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This build explores the workflow. It does not demonstrate fewer admissions, clinical warning lead time or treatment benefit.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55080" y="2267712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74536" y="2176272"/>
            <a:ext cx="4992624" cy="795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Synthetic COPD outpatient cohort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136392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74536" y="3044952"/>
            <a:ext cx="4992624" cy="795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Clinician review, acknowledgement and action logging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55080" y="4005071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74536" y="3913631"/>
            <a:ext cx="4992624" cy="795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Pune · Mumbai · Delhi · Bengaluru ambient examples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4873751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74536" y="4782312"/>
            <a:ext cx="4992624" cy="79552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No clinical participants or hospital partnership claimed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02 / TARGET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Three horizons. Three actual models.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444752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New synthetic onset in (t, t+h] — not diagnosis, triage or validated lead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03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12848"/>
            <a:ext cx="3639312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468880"/>
            <a:ext cx="3200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5300" b="1">
                <a:solidFill>
                  <a:srgbClr val="287E68"/>
                </a:solidFill>
                <a:latin typeface="Liberation Sans"/>
              </a:defRPr>
            </a:pPr>
            <a:r>
              <a:t>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3346704"/>
            <a:ext cx="312724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1">
                <a:solidFill>
                  <a:srgbClr val="6C8274"/>
                </a:solidFill>
                <a:latin typeface="Liberation Sans"/>
              </a:defRPr>
            </a:pPr>
            <a:r>
              <a:t>HOUR HORIZON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" y="3931920"/>
            <a:ext cx="3127248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Independent fitted + calibrated estimate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07407" y="2212848"/>
            <a:ext cx="3639312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468880"/>
            <a:ext cx="3200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5300" b="1">
                <a:solidFill>
                  <a:srgbClr val="287E68"/>
                </a:solidFill>
                <a:latin typeface="Liberation Sans"/>
              </a:defRPr>
            </a:pPr>
            <a:r>
              <a:t>48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3346704"/>
            <a:ext cx="312724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1">
                <a:solidFill>
                  <a:srgbClr val="6C8274"/>
                </a:solidFill>
                <a:latin typeface="Liberation Sans"/>
              </a:defRPr>
            </a:pPr>
            <a:r>
              <a:t>HOUR HORIZON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931920"/>
            <a:ext cx="3127248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Independent fitted + calibrated estimate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2212848"/>
            <a:ext cx="3639312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2468880"/>
            <a:ext cx="32004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5300" b="1">
                <a:solidFill>
                  <a:srgbClr val="287E68"/>
                </a:solidFill>
                <a:latin typeface="Liberation Sans"/>
              </a:defRPr>
            </a:pPr>
            <a:r>
              <a:t>72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22207" y="3346704"/>
            <a:ext cx="3127248" cy="457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1">
                <a:solidFill>
                  <a:srgbClr val="6C8274"/>
                </a:solidFill>
                <a:latin typeface="Liberation Sans"/>
              </a:defRPr>
            </a:pPr>
            <a:r>
              <a:t>HOUR HORIZON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22207" y="3931920"/>
            <a:ext cx="3127248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Independent fitted + calibrated estimate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5166360"/>
            <a:ext cx="10972800" cy="7315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6C8274"/>
                </a:solidFill>
                <a:latin typeface="Liberation Sans"/>
              </a:defRPr>
            </a:pPr>
            <a:r>
              <a:t>Active episodes, initial72h calibration and incomplete future follow-up are excluded from evaluation. Independent horizons can be non-monotonic.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03 / PRANAGUARD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One clinician workspace, connected end to end.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04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" y="1943100"/>
            <a:ext cx="7360920" cy="41422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overview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25942"/>
            <a:ext cx="7315200" cy="3776546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47888" y="2121408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67344" y="2029968"/>
            <a:ext cx="3163824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Cohort risk &amp; source freshness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47888" y="3054096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67344" y="2962656"/>
            <a:ext cx="3163824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Patient-specific baseline and history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47888" y="3986783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67344" y="3895344"/>
            <a:ext cx="3163824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Explanations and isolated scenarios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47888" y="4919472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67344" y="4828032"/>
            <a:ext cx="3163824" cy="8595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Persisted alerts and review trail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" y="6144768"/>
            <a:ext cx="1088136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6C8274"/>
                </a:solidFill>
                <a:latin typeface="Liberation Sans"/>
              </a:defRPr>
            </a:pPr>
            <a:r>
              <a:t>Actual running React frontend screenshot. Values are API-fed synthetic model estimates, not a mockup.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04 / WHY IT QUALIFIES AS A RESEARCH DIGITAL TWIN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A stateful twin — not a static prediction page.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05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947672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E7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007107"/>
            <a:ext cx="32004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50" b="1">
                <a:solidFill>
                  <a:srgbClr val="287E68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920240"/>
            <a:ext cx="28346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000" b="1">
                <a:solidFill>
                  <a:srgbClr val="163E35"/>
                </a:solidFill>
                <a:latin typeface="Liberation Sans"/>
              </a:defRPr>
            </a:pPr>
            <a:r>
              <a:t>Persistent identity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5968" y="1947672"/>
            <a:ext cx="69951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6C8274"/>
                </a:solidFill>
                <a:latin typeface="Liberation Sans"/>
              </a:defRPr>
            </a:pPr>
            <a:r>
              <a:t>Patient-specific state and immutable SQLite versions.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2752344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E7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2811779"/>
            <a:ext cx="32004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50" b="1">
                <a:solidFill>
                  <a:srgbClr val="287E68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724912"/>
            <a:ext cx="28346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000" b="1">
                <a:solidFill>
                  <a:srgbClr val="163E35"/>
                </a:solidFill>
                <a:latin typeface="Liberation Sans"/>
              </a:defRPr>
            </a:pPr>
            <a:r>
              <a:t>Personal 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15968" y="2752344"/>
            <a:ext cx="69951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6C8274"/>
                </a:solidFill>
                <a:latin typeface="Liberation Sans"/>
              </a:defRPr>
            </a:pPr>
            <a:r>
              <a:t>First72h baseline precedes fitted and replayed predictions.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3557015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E7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944" y="3616451"/>
            <a:ext cx="32004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50" b="1">
                <a:solidFill>
                  <a:srgbClr val="287E68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529584"/>
            <a:ext cx="28346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000" b="1">
                <a:solidFill>
                  <a:srgbClr val="163E35"/>
                </a:solidFill>
                <a:latin typeface="Liberation Sans"/>
              </a:defRPr>
            </a:pPr>
            <a:r>
              <a:t>Hourly updates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5968" y="3557015"/>
            <a:ext cx="69951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6C8274"/>
                </a:solidFill>
                <a:latin typeface="Liberation Sans"/>
              </a:defRPr>
            </a:pPr>
            <a:r>
              <a:t>Observed body/environment context advances deterministically.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94360" y="4361688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E7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4944" y="4421124"/>
            <a:ext cx="32004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50" b="1">
                <a:solidFill>
                  <a:srgbClr val="287E68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334255"/>
            <a:ext cx="28346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000" b="1">
                <a:solidFill>
                  <a:srgbClr val="163E35"/>
                </a:solidFill>
                <a:latin typeface="Liberation Sans"/>
              </a:defRPr>
            </a:pPr>
            <a:r>
              <a:t>Future exploration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15968" y="4361688"/>
            <a:ext cx="69951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6C8274"/>
                </a:solidFill>
                <a:latin typeface="Liberation Sans"/>
              </a:defRPr>
            </a:pPr>
            <a:r>
              <a:t>Three fitted risk models plus separate conditional branches.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" y="5166360"/>
            <a:ext cx="502920" cy="292608"/>
          </a:xfrm>
          <a:prstGeom prst="roundRect">
            <a:avLst>
              <a:gd name="adj" fmla="val 12000"/>
            </a:avLst>
          </a:prstGeom>
          <a:solidFill>
            <a:srgbClr val="E7F0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" y="5225796"/>
            <a:ext cx="32004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50" b="1">
                <a:solidFill>
                  <a:srgbClr val="287E68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5138928"/>
            <a:ext cx="28346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000" b="1">
                <a:solidFill>
                  <a:srgbClr val="163E35"/>
                </a:solidFill>
                <a:latin typeface="Liberation Sans"/>
              </a:defRPr>
            </a:pPr>
            <a:r>
              <a:t>Auditable review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15968" y="5166360"/>
            <a:ext cx="699516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6C8274"/>
                </a:solidFill>
                <a:latin typeface="Liberation Sans"/>
              </a:defRPr>
            </a:pPr>
            <a:r>
              <a:t>Saved explanations-by-state, alerts, actions and scenarios.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3834" y="269930"/>
            <a:ext cx="10497311" cy="1874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2" b="1">
                <a:solidFill>
                  <a:srgbClr val="287E68"/>
                </a:solidFill>
                <a:latin typeface="Liberation Sans"/>
              </a:defRPr>
            </a:pPr>
            <a:r>
              <a:t>PRANAGUARD  /  IMPLEMENTED 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3834" y="599846"/>
            <a:ext cx="10947196" cy="44988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460" b="1">
                <a:solidFill>
                  <a:srgbClr val="163E35"/>
                </a:solidFill>
                <a:latin typeface="Liberation Sans"/>
              </a:defRPr>
            </a:pPr>
            <a:r>
              <a:t>A persistent twin, not a static score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053181" y="1919508"/>
            <a:ext cx="314919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5917448" y="1919508"/>
            <a:ext cx="314919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8781714" y="1919508"/>
            <a:ext cx="314920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371307" y="2489362"/>
            <a:ext cx="0" cy="397398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>
            <a:off x="8781714" y="3456614"/>
            <a:ext cx="314920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917448" y="3456614"/>
            <a:ext cx="314919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3053181" y="3456614"/>
            <a:ext cx="314919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78508" y="4026468"/>
            <a:ext cx="0" cy="397399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53181" y="4993721"/>
            <a:ext cx="314919" cy="0"/>
          </a:xfrm>
          <a:prstGeom prst="line">
            <a:avLst/>
          </a:prstGeom>
          <a:ln w="17780">
            <a:solidFill>
              <a:srgbClr val="799885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0371307" y="4026468"/>
            <a:ext cx="0" cy="172456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1778508" y="4198924"/>
            <a:ext cx="8592799" cy="0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778508" y="4026468"/>
            <a:ext cx="0" cy="172456"/>
          </a:xfrm>
          <a:prstGeom prst="line">
            <a:avLst/>
          </a:prstGeom>
          <a:ln w="11430">
            <a:solidFill>
              <a:srgbClr val="799885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64807" y="4018970"/>
            <a:ext cx="2999232" cy="13496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6C8274"/>
                </a:solidFill>
                <a:latin typeface="Liberation Sans"/>
              </a:defRPr>
            </a:pPr>
            <a:r>
              <a:t>prediction → atomic state persistence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10371307" y="1184696"/>
            <a:ext cx="0" cy="164958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6074907" y="1184696"/>
            <a:ext cx="4296400" cy="0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074907" y="1184696"/>
            <a:ext cx="0" cy="1514612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H="1">
            <a:off x="4642774" y="2699308"/>
            <a:ext cx="1432133" cy="0"/>
          </a:xfrm>
          <a:prstGeom prst="line">
            <a:avLst/>
          </a:prstGeom>
          <a:ln w="11430">
            <a:solidFill>
              <a:srgbClr val="79988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642774" y="2699308"/>
            <a:ext cx="0" cy="187452"/>
          </a:xfrm>
          <a:prstGeom prst="line">
            <a:avLst/>
          </a:prstGeom>
          <a:ln w="11430">
            <a:solidFill>
              <a:srgbClr val="799885"/>
            </a:solidFill>
            <a:prstDash val="dash"/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127394" y="1027236"/>
            <a:ext cx="3749039" cy="13496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6C8274"/>
                </a:solidFill>
                <a:latin typeface="Liberation Sans"/>
              </a:defRPr>
            </a:pPr>
            <a:r>
              <a:t>twin observed past → independent scenario branch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834" y="1349654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8807" y="1439631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1224" y="1424635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Data sources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3803" y="1792041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Synthetic body/clinical streams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Cached real ambient/weather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3803" y="2286914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Synthetic + cached inputs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68100" y="1349654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73074" y="1439631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95491" y="1424635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Ingestion &amp; replay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88070" y="1792041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Hourly cohort-wide replay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Seeded UTC clock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88070" y="2286914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engine.py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32367" y="1349654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37340" y="1439631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59758" y="1424635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Validation &amp; features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52336" y="1792041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Ranges, duplicates, timestamps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Causal6h /24h windows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52336" y="2286914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validation.py · features.py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96634" y="1349654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201607" y="1439631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24024" y="1424635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Digital-twin state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6603" y="1792041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Identity + first72h baseline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Current data + version history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16603" y="2286914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engine.py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096634" y="2886760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01607" y="2976737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524024" y="2961741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ML &amp; calibration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216603" y="3329147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Three LightGBM + Platt models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24h /48h /72h · LR baseline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216603" y="3824020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ml.py · models.joblib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232367" y="2886760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37340" y="2976737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59758" y="2961741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Explainability &amp; alerts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352336" y="3329147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Native TreeSHAP on demand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Persisted threshold alerts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352336" y="3824020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ml.py · engine.py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368100" y="2886760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473074" y="2976737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95491" y="2961741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What-if simulation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88070" y="3329147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Cloned past + projected inputs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Separate branches, no future data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3488070" y="3824020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engine.py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503834" y="2886760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08807" y="2976737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08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1224" y="2961741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SQLite persistence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23803" y="3329147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States, cursor, alerts, actions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Scenarios saved separately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23803" y="3824020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store.py · SQLite WAL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503834" y="4423867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08807" y="4513844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09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1224" y="4498848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FastAPI APIs / WS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23803" y="4866253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REST + WebSocket invalidation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Optional write-access token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23803" y="5361127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main.py · /docs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368100" y="4423867"/>
            <a:ext cx="2549347" cy="1139708"/>
          </a:xfrm>
          <a:prstGeom prst="roundRect">
            <a:avLst>
              <a:gd name="adj" fmla="val 12000"/>
            </a:avLst>
          </a:prstGeom>
          <a:solidFill>
            <a:srgbClr val="EBF2E6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473074" y="4513844"/>
            <a:ext cx="277428" cy="19495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10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795491" y="4498848"/>
            <a:ext cx="2024481" cy="2624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12" b="1">
                <a:solidFill>
                  <a:srgbClr val="163E35"/>
                </a:solidFill>
                <a:latin typeface="Liberation Sans"/>
              </a:defRPr>
            </a:pPr>
            <a:r>
              <a:t>React dashboard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488070" y="4866253"/>
            <a:ext cx="2309408" cy="4048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7 working clinician views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84" b="0">
                <a:solidFill>
                  <a:srgbClr val="6C8274"/>
                </a:solidFill>
                <a:latin typeface="Liberation Sans"/>
              </a:defRPr>
            </a:pPr>
            <a:r>
              <a:t>Real API charts and controls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88070" y="5361127"/>
            <a:ext cx="2309408" cy="127467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287E68"/>
                </a:solidFill>
                <a:latin typeface="Liberation Sans"/>
              </a:defRPr>
            </a:pPr>
            <a:r>
              <a:t>React clinician frontend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6232367" y="4423867"/>
            <a:ext cx="5413613" cy="1139708"/>
          </a:xfrm>
          <a:prstGeom prst="roundRect">
            <a:avLst>
              <a:gd name="adj" fmla="val 12000"/>
            </a:avLst>
          </a:prstGeom>
          <a:solidFill>
            <a:srgbClr val="E9F0E2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382329" y="4573828"/>
            <a:ext cx="5098694" cy="22494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94" b="1">
                <a:solidFill>
                  <a:srgbClr val="163E35"/>
                </a:solidFill>
                <a:latin typeface="Liberation Sans"/>
              </a:defRPr>
            </a:pPr>
            <a:r>
              <a:t>Offline training &amp; evaluation artifacts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382329" y="4986223"/>
            <a:ext cx="5098694" cy="41239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2" b="0">
                <a:solidFill>
                  <a:srgbClr val="6C8274"/>
                </a:solidFill>
                <a:latin typeface="Liberation Sans"/>
              </a:defRPr>
            </a:pPr>
            <a:r>
              <a:t>15 executed experiments · patient/time-disjoint splits · ≥72h purge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902" b="0">
                <a:solidFill>
                  <a:srgbClr val="6C8274"/>
                </a:solidFill>
                <a:latin typeface="Liberation Sans"/>
              </a:defRPr>
            </a:pPr>
            <a:r>
              <a:t>Models, calibration, ROC/PR, ablations and provenance versioned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03834" y="5908487"/>
            <a:ext cx="11172139" cy="48737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2" b="0">
                <a:solidFill>
                  <a:srgbClr val="6C8274"/>
                </a:solidFill>
                <a:latin typeface="Liberation Sans"/>
              </a:defRPr>
            </a:pPr>
            <a:r>
              <a:t>Solid arrows: logical capability chain. Dashed: cross-cutting runtime branches. SQLite writes occur on every twin update; explanations and scenarios are API-triggered. All patients synthetic; cached ambient data are historical. The 72h model is weak and its calibration slope is negative.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03834" y="6485839"/>
            <a:ext cx="11172139" cy="134965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RESEARCH PROTOTYPE · NO CLINICAL VALIDATION · ORIGINAL EDITABLE VECTOR SHAPES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06 / DATA PROVENANCE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Know what is real. Know what is synthetic.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07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965960"/>
            <a:ext cx="5486400" cy="29077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8096" y="2130552"/>
            <a:ext cx="5084064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1">
                <a:solidFill>
                  <a:srgbClr val="287E68"/>
                </a:solidFill>
                <a:latin typeface="Liberation Sans"/>
              </a:defRPr>
            </a:pPr>
            <a:r>
              <a:t>SYNTHETIC · clinical/body/outcomes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651760"/>
            <a:ext cx="5084064" cy="20848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120 patients × 60 days = 172,800 hourly records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263 stochastic artificial onsets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Seed2026 · no real people or hospital records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Generator is not medically calibrated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965960"/>
            <a:ext cx="5303520" cy="2907792"/>
          </a:xfrm>
          <a:prstGeom prst="roundRect">
            <a:avLst>
              <a:gd name="adj" fmla="val 12000"/>
            </a:avLst>
          </a:prstGeom>
          <a:solidFill>
            <a:srgbClr val="E7F0D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0528" y="2130552"/>
            <a:ext cx="4901183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1">
                <a:solidFill>
                  <a:srgbClr val="287E68"/>
                </a:solidFill>
                <a:latin typeface="Liberation Sans"/>
              </a:defRPr>
            </a:pPr>
            <a:r>
              <a:t>REAL CACHED · ambient model products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0528" y="2651760"/>
            <a:ext cx="4901183" cy="20848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8 successfully retrieved public API responses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4 cities × air + weather; 1,440 hours/cache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2026-08-01 to 2026-09-29 UTC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Open-Meteo / CAMS · CC BY 4.0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" y="5230368"/>
            <a:ext cx="10972800" cy="76809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6C8274"/>
                </a:solidFill>
                <a:latin typeface="Liberation Sans"/>
              </a:defRPr>
            </a:pPr>
            <a:r>
              <a:t>Ambient grids are not personal exposure. Historical products are not live or verified as-issued forecasts. URLs, retrieval times, licenses and SHA-256 checksums are versioned.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07 / AI &amp; ML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The split comes before the score.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444752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No patient identity, future events, future exposure or full-course baseline averages enter the models.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08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39696"/>
            <a:ext cx="3639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8096" y="2359152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200" b="1">
                <a:solidFill>
                  <a:srgbClr val="287E68"/>
                </a:solidFill>
                <a:latin typeface="Liberation Sans"/>
              </a:defRPr>
            </a:pPr>
            <a:r>
              <a:t>TRAIN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" y="2788920"/>
            <a:ext cx="32004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800" b="1">
                <a:solidFill>
                  <a:srgbClr val="163E35"/>
                </a:solidFill>
                <a:latin typeface="Liberation Sans"/>
              </a:defRPr>
            </a:pPr>
            <a:r>
              <a:t>72 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3584448"/>
            <a:ext cx="32004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14,605 sampled rows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Imputer/scaler fitted here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25696" y="2139696"/>
            <a:ext cx="3639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26864" y="2359152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200" b="1">
                <a:solidFill>
                  <a:srgbClr val="287E68"/>
                </a:solidFill>
                <a:latin typeface="Liberation Sans"/>
              </a:defRPr>
            </a:pPr>
            <a:r>
              <a:t>CALIBRATION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26864" y="2788920"/>
            <a:ext cx="32004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800" b="1">
                <a:solidFill>
                  <a:srgbClr val="163E35"/>
                </a:solidFill>
                <a:latin typeface="Liberation Sans"/>
              </a:defRPr>
            </a:pPr>
            <a:r>
              <a:t>24 patients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26864" y="3584448"/>
            <a:ext cx="32004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1,377 sampled rows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Separate Platt fits here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84463" y="2139696"/>
            <a:ext cx="3639312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85632" y="2359152"/>
            <a:ext cx="320040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200" b="1">
                <a:solidFill>
                  <a:srgbClr val="287E68"/>
                </a:solidFill>
                <a:latin typeface="Liberation Sans"/>
              </a:defRPr>
            </a:pPr>
            <a:r>
              <a:t>TEST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85632" y="2788920"/>
            <a:ext cx="3200400" cy="6400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2800" b="1">
                <a:solidFill>
                  <a:srgbClr val="163E35"/>
                </a:solidFill>
                <a:latin typeface="Liberation Sans"/>
              </a:defRPr>
            </a:pPr>
            <a:r>
              <a:t>24 patients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85632" y="3584448"/>
            <a:ext cx="3200400" cy="502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4,699 hourly windows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Later dates; untouched for tuning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7512" y="4663440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86968" y="4572000"/>
            <a:ext cx="10753344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0">
                <a:solidFill>
                  <a:srgbClr val="163E35"/>
                </a:solidFill>
                <a:latin typeface="Liberation Sans"/>
              </a:defRPr>
            </a:pPr>
            <a:r>
              <a:t>Patient-disjoint and calendar-time-disjoint, with ≥72h purges.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" y="5175504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5084064"/>
            <a:ext cx="10753344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0">
                <a:solidFill>
                  <a:srgbClr val="163E35"/>
                </a:solidFill>
                <a:latin typeface="Liberation Sans"/>
              </a:defRPr>
            </a:pPr>
            <a:r>
              <a:t>Fixed hyperparameters; LR baseline + 4 LightGBM input groups × 3 horizons.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7512" y="5687568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5596128"/>
            <a:ext cx="10753344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600" b="0">
                <a:solidFill>
                  <a:srgbClr val="163E35"/>
                </a:solidFill>
                <a:latin typeface="Liberation Sans"/>
              </a:defRPr>
            </a:pPr>
            <a:r>
              <a:t>Causal trailing features; first72h warm-up; no test-selected threshold or tuning.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08 / ACTUAL EXPLAINABILITY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Explain the model — and its failure modes.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09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25780" y="2080260"/>
            <a:ext cx="7360920" cy="37216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explain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119728"/>
            <a:ext cx="7315200" cy="3642671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8211312" y="2148840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30768" y="2057400"/>
            <a:ext cx="3163824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163E35"/>
                </a:solidFill>
                <a:latin typeface="Liberation Sans"/>
              </a:defRPr>
            </a:pPr>
            <a:r>
              <a:t>Native exact TreeSHAP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11312" y="3090672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30768" y="2999232"/>
            <a:ext cx="3163824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163E35"/>
                </a:solidFill>
                <a:latin typeface="Liberation Sans"/>
              </a:defRPr>
            </a:pPr>
            <a:r>
              <a:t>Base + contributions = raw log-odds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11312" y="4032504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30768" y="3941064"/>
            <a:ext cx="3163824" cy="8686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163E35"/>
                </a:solidFill>
                <a:latin typeface="Liberation Sans"/>
              </a:defRPr>
            </a:pPr>
            <a:r>
              <a:t>Patient-relative deviations and driver deltas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70448"/>
            <a:ext cx="10972800" cy="3657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1">
                <a:solidFill>
                  <a:srgbClr val="B87561"/>
                </a:solidFill>
                <a:latin typeface="Liberation Sans"/>
              </a:defRPr>
            </a:pPr>
            <a:r>
              <a:t>Critical caveat: 72h Platt slope is negative. Raw contribution direction is not calibrated-risk direction. Association ≠ causation.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09 / CONDITIONAL WHAT-IF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What changes when assumptions change?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444752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A model sensitivity branch, not a validated treatment or physiological response simulator.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10 / 16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286000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3816" y="2194560"/>
            <a:ext cx="3529583" cy="6126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163E35"/>
                </a:solidFill>
                <a:latin typeface="Liberation Sans"/>
              </a:defRPr>
            </a:pPr>
            <a:r>
              <a:t>PM2.5 −80% to +100%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971800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" y="2880360"/>
            <a:ext cx="3529583" cy="6126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163E35"/>
                </a:solidFill>
                <a:latin typeface="Liberation Sans"/>
              </a:defRPr>
            </a:pPr>
            <a:r>
              <a:t>Adherence feature0–1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" y="3657600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" y="3566160"/>
            <a:ext cx="3529583" cy="6126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163E35"/>
                </a:solidFill>
                <a:latin typeface="Liberation Sans"/>
              </a:defRPr>
            </a:pPr>
            <a:r>
              <a:t>Activity0.5–1.5× steps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4343400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" y="4251960"/>
            <a:ext cx="3529583" cy="6126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163E35"/>
                </a:solidFill>
                <a:latin typeface="Liberation Sans"/>
              </a:defRPr>
            </a:pPr>
            <a:r>
              <a:t>Observed physiology held constant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029200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" y="4937760"/>
            <a:ext cx="3529583" cy="6126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0">
                <a:solidFill>
                  <a:srgbClr val="163E35"/>
                </a:solidFill>
                <a:latin typeface="Liberation Sans"/>
              </a:defRPr>
            </a:pPr>
            <a:r>
              <a:t>Original twin never overwritten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640579" y="2034540"/>
            <a:ext cx="6995159" cy="4178807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enario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53831" y="2057400"/>
            <a:ext cx="6568657" cy="413308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1792" y="5852160"/>
            <a:ext cx="3703320" cy="40233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200" b="1">
                <a:solidFill>
                  <a:srgbClr val="B87561"/>
                </a:solidFill>
                <a:latin typeface="Liberation Sans"/>
              </a:defRPr>
            </a:pPr>
            <a:r>
              <a:t>Counterintuitive results are possible. No proven health benefit is implied.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10 / ACTUAL FRONTEND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From review to an auditable action.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444752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Open a twin → inspect evidence → review an alert → document an action → reload persisted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11 / 16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4068" y="2080260"/>
            <a:ext cx="4983480" cy="4005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patient_cr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2369695"/>
            <a:ext cx="4937760" cy="34262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737859" y="2080260"/>
            <a:ext cx="5897880" cy="40050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care_cro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2530182"/>
            <a:ext cx="5852160" cy="310522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21792" y="6144768"/>
            <a:ext cx="484632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6C8274"/>
                </a:solidFill>
                <a:latin typeface="Liberation Sans"/>
              </a:defRPr>
            </a:pPr>
            <a:r>
              <a:t>Actual patient twin, personal baseline and versioned risks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15584" y="6144768"/>
            <a:ext cx="566928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0">
                <a:solidFill>
                  <a:srgbClr val="6C8274"/>
                </a:solidFill>
                <a:latin typeface="Liberation Sans"/>
              </a:defRPr>
            </a:pPr>
            <a:r>
              <a:t>Actual model-generated false-positive alert and persisted review note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11 / ACTUAL EXECUTED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The engineering works. The model needs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444752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Synthetic held-out results only. Poor72h discrimination and zero sensitivity at the fixed.35 cutoff.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12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9494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325880"/>
                <a:gridCol w="1325880"/>
                <a:gridCol w="1325880"/>
              </a:tblGrid>
              <a:tr h="509451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MODEL / HORIZON</a:t>
                      </a:r>
                    </a:p>
                  </a:txBody>
                  <a:tcPr marT="54864" marB="36576" marL="109728" marR="73152" anchor="ctr">
                    <a:solidFill>
                      <a:srgbClr val="163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AUROC</a:t>
                      </a:r>
                    </a:p>
                  </a:txBody>
                  <a:tcPr marT="54864" marB="36576" marL="109728" marR="73152" anchor="ctr">
                    <a:solidFill>
                      <a:srgbClr val="163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AUPRC</a:t>
                      </a:r>
                    </a:p>
                  </a:txBody>
                  <a:tcPr marT="54864" marB="36576" marL="109728" marR="73152" anchor="ctr">
                    <a:solidFill>
                      <a:srgbClr val="163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BRIER</a:t>
                      </a:r>
                    </a:p>
                  </a:txBody>
                  <a:tcPr marT="54864" marB="36576" marL="109728" marR="73152" anchor="ctr">
                    <a:solidFill>
                      <a:srgbClr val="163E35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24h · LightGBM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0.6916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0.0882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0.0279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24h · Logistic Reg.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0.6619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0.1993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0.0260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48h · LightGBM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0.6144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0.0968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0.0557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48h · Logistic Reg.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0.6285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0.1841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0.0537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</a:tr>
              <a:tr h="509451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72h · LightGBM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0.3951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0.0593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0.0853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</a:tr>
              <a:tr h="509454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72h · Logistic Reg.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0.6253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0.2281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0.0800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882127" y="2286000"/>
          <a:ext cx="3703320" cy="30449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8065008" y="5559552"/>
            <a:ext cx="3337560" cy="493776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1">
                <a:solidFill>
                  <a:srgbClr val="B87561"/>
                </a:solidFill>
                <a:latin typeface="Liberation Sans"/>
              </a:defRPr>
            </a:pPr>
            <a:r>
              <a:t>72h prevalence:0.0773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300" b="1">
                <a:solidFill>
                  <a:srgbClr val="B87561"/>
                </a:solidFill>
                <a:latin typeface="Liberation Sans"/>
              </a:defRPr>
            </a:pPr>
            <a:r>
              <a:t>72h AUPRC:0.0593 (below baseline)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5943600"/>
            <a:ext cx="681228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000" b="0">
                <a:solidFill>
                  <a:srgbClr val="6C8274"/>
                </a:solidFill>
                <a:latin typeface="Liberation Sans"/>
              </a:defRPr>
            </a:pPr>
            <a:r>
              <a:t>Test:24 patients,4,699 correlated hours.150 patient-cluster bootstrap resamples in JSON.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12 / ACTUAL ABLATION OUTCOMES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More features did not establish better forecasts.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1444752"/>
            <a:ext cx="11064240" cy="43891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Same leakage-aware split, fixed model choices and separate calibration for every experiment.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13 / 16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66928" y="2103120"/>
          <a:ext cx="6949440" cy="28529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71800"/>
                <a:gridCol w="1325880"/>
                <a:gridCol w="1325880"/>
                <a:gridCol w="1325880"/>
              </a:tblGrid>
              <a:tr h="570585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72H INPUT GROUP</a:t>
                      </a:r>
                    </a:p>
                  </a:txBody>
                  <a:tcPr marT="54864" marB="36576" marL="109728" marR="73152" anchor="ctr">
                    <a:solidFill>
                      <a:srgbClr val="163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AUROC</a:t>
                      </a:r>
                    </a:p>
                  </a:txBody>
                  <a:tcPr marT="54864" marB="36576" marL="109728" marR="73152" anchor="ctr">
                    <a:solidFill>
                      <a:srgbClr val="163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AUPRC</a:t>
                      </a:r>
                    </a:p>
                  </a:txBody>
                  <a:tcPr marT="54864" marB="36576" marL="109728" marR="73152" anchor="ctr">
                    <a:solidFill>
                      <a:srgbClr val="163E3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FFFFF"/>
                          </a:solidFill>
                          <a:latin typeface="Liberation Sans"/>
                        </a:defRPr>
                      </a:pPr>
                      <a:r>
                        <a:t>BRIER</a:t>
                      </a:r>
                    </a:p>
                  </a:txBody>
                  <a:tcPr marT="54864" marB="36576" marL="109728" marR="73152" anchor="ctr">
                    <a:solidFill>
                      <a:srgbClr val="163E35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Static Only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0.2197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0.0550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0.0816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Body Stream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0.6358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0.1086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0.0815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</a:tr>
              <a:tr h="570585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Full Environment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0.3119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0.0514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0.0816</a:t>
                      </a:r>
                    </a:p>
                  </a:txBody>
                  <a:tcPr marT="54864" marB="36576" marL="109728" marR="73152" anchor="ctr">
                    <a:solidFill>
                      <a:srgbClr val="FFFFFF"/>
                    </a:solidFill>
                  </a:tcPr>
                </a:tc>
              </a:tr>
              <a:tr h="570588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Personalized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0.3951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0.0593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163E35"/>
                          </a:solidFill>
                          <a:latin typeface="Liberation Sans"/>
                        </a:defRPr>
                      </a:pPr>
                      <a:r>
                        <a:t>0.0853</a:t>
                      </a:r>
                    </a:p>
                  </a:txBody>
                  <a:tcPr marT="54864" marB="36576" marL="109728" marR="73152" anchor="ctr">
                    <a:solidFill>
                      <a:srgbClr val="EDF3E8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7882127" y="2103120"/>
            <a:ext cx="3703320" cy="2852928"/>
          </a:xfrm>
          <a:prstGeom prst="roundRect">
            <a:avLst>
              <a:gd name="adj" fmla="val 12000"/>
            </a:avLst>
          </a:prstGeom>
          <a:solidFill>
            <a:srgbClr val="F8EEE5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83296" y="2267712"/>
            <a:ext cx="3300984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1">
                <a:solidFill>
                  <a:srgbClr val="B87561"/>
                </a:solidFill>
                <a:latin typeface="Liberation Sans"/>
              </a:defRPr>
            </a:pPr>
            <a:r>
              <a:t>No improvement claim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83296" y="2788920"/>
            <a:ext cx="3300984" cy="20299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Full environment72h is worse than body streams. Personalization does not establish benefit. Calibration instability is retained, not concealed.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5349240"/>
            <a:ext cx="10972800" cy="91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900" b="0">
                <a:solidFill>
                  <a:srgbClr val="B87561"/>
                </a:solidFill>
                <a:latin typeface="Liberation Sans"/>
              </a:defRPr>
            </a:pPr>
            <a:r>
              <a:t>Only5 held-out test-window onsets.0 detected at72h ≥35%; median lead time is undefined. All primary horizons have zero sensitivity at that cutoff. Small synthetic samples and shared exposure create major uncertainty.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13 / DETERMINISTIC DEMONSTRATION SCENARIO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A reproducible demo, including a false positive.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14 / 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76072" y="2194560"/>
            <a:ext cx="2743200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414016"/>
            <a:ext cx="23774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100" b="1">
                <a:solidFill>
                  <a:srgbClr val="287E68"/>
                </a:solidFill>
                <a:latin typeface="Liberation Sans"/>
              </a:defRPr>
            </a:pPr>
            <a:r>
              <a:t>RESET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862072"/>
            <a:ext cx="2377440" cy="6583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200" b="1">
                <a:solidFill>
                  <a:srgbClr val="163E35"/>
                </a:solidFill>
                <a:latin typeface="Liberation Sans"/>
              </a:defRPr>
            </a:pPr>
            <a:r>
              <a:t>1039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3657600"/>
            <a:ext cx="2377440" cy="512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24h persisted history · focus PG-0071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83864" y="2194560"/>
            <a:ext cx="2743200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414016"/>
            <a:ext cx="23774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100" b="1">
                <a:solidFill>
                  <a:srgbClr val="287E68"/>
                </a:solidFill>
                <a:latin typeface="Liberation Sans"/>
              </a:defRPr>
            </a:pPr>
            <a:r>
              <a:t>ADVANCE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66744" y="2862072"/>
            <a:ext cx="2377440" cy="6583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200" b="1">
                <a:solidFill>
                  <a:srgbClr val="163E35"/>
                </a:solidFill>
                <a:latin typeface="Liberation Sans"/>
              </a:defRPr>
            </a:pPr>
            <a:r>
              <a:t>+12h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66744" y="3657600"/>
            <a:ext cx="2377440" cy="512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Replay to1051 · state version37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91656" y="2194560"/>
            <a:ext cx="2743200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74536" y="2414016"/>
            <a:ext cx="23774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100" b="1">
                <a:solidFill>
                  <a:srgbClr val="287E68"/>
                </a:solidFill>
                <a:latin typeface="Liberation Sans"/>
              </a:defRPr>
            </a:pPr>
            <a:r>
              <a:t>REVIEW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74536" y="2862072"/>
            <a:ext cx="2377440" cy="6583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200" b="1">
                <a:solidFill>
                  <a:srgbClr val="163E35"/>
                </a:solidFill>
                <a:latin typeface="Liberation Sans"/>
              </a:defRPr>
            </a:pPr>
            <a:r>
              <a:t>35.51%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4536" y="3657600"/>
            <a:ext cx="2377440" cy="512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Actual calibrated72h risk crosses.35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99448" y="2194560"/>
            <a:ext cx="2743200" cy="221284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82328" y="2414016"/>
            <a:ext cx="2377440" cy="2743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100" b="1">
                <a:solidFill>
                  <a:srgbClr val="287E68"/>
                </a:solidFill>
                <a:latin typeface="Liberation Sans"/>
              </a:defRPr>
            </a:pPr>
            <a:r>
              <a:t>DISCLOSE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82328" y="2862072"/>
            <a:ext cx="2377440" cy="6583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200" b="1">
                <a:solidFill>
                  <a:srgbClr val="163E35"/>
                </a:solidFill>
                <a:latin typeface="Liberation Sans"/>
              </a:defRPr>
            </a:pPr>
            <a:r>
              <a:t>label = 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82328" y="3657600"/>
            <a:ext cx="2377440" cy="512064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300" b="0">
                <a:solidFill>
                  <a:srgbClr val="6C8274"/>
                </a:solidFill>
                <a:latin typeface="Liberation Sans"/>
              </a:defRPr>
            </a:pPr>
            <a:r>
              <a:t>Retrospective score-selected false positive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03504" y="4736592"/>
            <a:ext cx="10972800" cy="1252728"/>
          </a:xfrm>
          <a:prstGeom prst="roundRect">
            <a:avLst>
              <a:gd name="adj" fmla="val 12000"/>
            </a:avLst>
          </a:prstGeom>
          <a:solidFill>
            <a:srgbClr val="E9F2E1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901183"/>
            <a:ext cx="10570464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1">
                <a:solidFill>
                  <a:srgbClr val="287E68"/>
                </a:solidFill>
                <a:latin typeface="Liberation Sans"/>
              </a:defRPr>
            </a:pPr>
            <a:r>
              <a:t>Show the full workflow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4672" y="5422392"/>
            <a:ext cx="10570464" cy="42976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Play/pause → reset → +12h → explanation → acknowledge/log/resolve → scenario → reload → actual validation.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287E68"/>
                </a:solidFill>
                <a:latin typeface="Liberation Sans"/>
              </a:defRPr>
            </a:pPr>
            <a:r>
              <a:t>14 / SAFETY, LIMITATIONS &amp; FUTURE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163E35"/>
                </a:solidFill>
                <a:latin typeface="Liberation Sans"/>
              </a:defRPr>
            </a:pPr>
            <a:r>
              <a:t>Clinical claims require clinical evidence.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87977F"/>
                </a:solidFill>
                <a:latin typeface="Liberation Sans"/>
              </a:defRPr>
            </a:pPr>
            <a:r>
              <a:t>15 / 16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2103120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59536" y="2011680"/>
            <a:ext cx="5266944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Synthetic generator and labels are not clinically calibrated.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999232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907792"/>
            <a:ext cx="5266944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72h model/calibration are unstable; no useful warning is established.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3895344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3803904"/>
            <a:ext cx="5266944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Ambient grids ≠ personal dose; scenarios are non-causal.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791456"/>
            <a:ext cx="59436" cy="59436"/>
          </a:xfrm>
          <a:prstGeom prst="rect">
            <a:avLst/>
          </a:prstGeom>
          <a:solidFill>
            <a:srgbClr val="287E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9536" y="4700016"/>
            <a:ext cx="5266944" cy="82296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800" b="0">
                <a:solidFill>
                  <a:srgbClr val="163E35"/>
                </a:solidFill>
                <a:latin typeface="Liberation Sans"/>
              </a:defRPr>
            </a:pPr>
            <a:r>
              <a:t>Local demo token ≠ production identity, privacy or governance.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2039112"/>
            <a:ext cx="4937760" cy="3611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8890">
            <a:solidFill>
              <a:srgbClr val="DAE4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84848" y="2203704"/>
            <a:ext cx="4535424" cy="384048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700" b="1">
                <a:solidFill>
                  <a:srgbClr val="287E68"/>
                </a:solidFill>
                <a:latin typeface="Liberation Sans"/>
              </a:defRPr>
            </a:pPr>
            <a:r>
              <a:t>Next, before real-world use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84848" y="2724912"/>
            <a:ext cx="4535424" cy="278892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Ethics/consent + adjudicated real outcomes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New pre-registered development data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External prospective patient/time/site validation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Calibration, fairness and uncertainty assessment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6C8274"/>
                </a:solidFill>
                <a:latin typeface="Liberation Sans"/>
              </a:defRPr>
            </a:pPr>
            <a:r>
              <a:t>Secure ingestion and clinician safety governance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3E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05840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900" b="1">
                <a:solidFill>
                  <a:srgbClr val="CEE2A9"/>
                </a:solidFill>
                <a:latin typeface="Liberation Sans"/>
              </a:defRPr>
            </a:pPr>
            <a:r>
              <a:t>15 / CONCLUSION &amp; SUBMISSION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7132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000" b="1">
                <a:solidFill>
                  <a:srgbClr val="FFFFFF"/>
                </a:solidFill>
                <a:latin typeface="Liberation Sans"/>
              </a:defRPr>
            </a:pPr>
            <a:r>
              <a:t>Build the workflow. Measure honestly.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19672"/>
            <a:ext cx="9601200" cy="16459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9BB6A4"/>
                </a:solidFill>
                <a:latin typeface="Liberation Sans"/>
              </a:defRPr>
            </a:pPr>
            <a:r>
              <a:t>PRANAGUARD   /   SYNTHETIC PROOF OF CONCEPT · NOT CLINICALLY VALIDATED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6501384"/>
            <a:ext cx="594360" cy="18288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r">
              <a:lnSpc>
                <a:spcPct val="107000"/>
              </a:lnSpc>
              <a:spcAft>
                <a:spcPts val="500"/>
              </a:spcAft>
              <a:defRPr sz="800" b="0">
                <a:solidFill>
                  <a:srgbClr val="9BB6A4"/>
                </a:solidFill>
                <a:latin typeface="Liberation Sans"/>
              </a:defRPr>
            </a:pPr>
            <a:r>
              <a:t>16 / 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3504" y="1965960"/>
            <a:ext cx="7589520" cy="9418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3500" b="1">
                <a:solidFill>
                  <a:srgbClr val="FFFFFF"/>
                </a:solidFill>
                <a:latin typeface="Liberation Sans"/>
              </a:defRPr>
            </a:pPr>
            <a:r>
              <a:t>Persistent state. Real inference.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3500" b="1">
                <a:solidFill>
                  <a:srgbClr val="FFFFFF"/>
                </a:solidFill>
                <a:latin typeface="Liberation Sans"/>
              </a:defRPr>
            </a:pPr>
            <a:r>
              <a:t>Transparent limitations.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328416"/>
            <a:ext cx="7680960" cy="75895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900" b="0">
                <a:solidFill>
                  <a:srgbClr val="BBD1B9"/>
                </a:solidFill>
                <a:latin typeface="Liberation Sans"/>
              </a:defRPr>
            </a:pPr>
            <a:r>
              <a:t>120 synthetic twins · 60 days · 3 horizons</a:t>
            </a:r>
          </a:p>
          <a:p>
            <a:pPr algn="l">
              <a:lnSpc>
                <a:spcPct val="107000"/>
              </a:lnSpc>
              <a:spcAft>
                <a:spcPts val="500"/>
              </a:spcAft>
              <a:defRPr sz="1900" b="0">
                <a:solidFill>
                  <a:srgbClr val="BBD1B9"/>
                </a:solidFill>
                <a:latin typeface="Liberation Sans"/>
              </a:defRPr>
            </a:pPr>
            <a:r>
              <a:t>Reproducible experiments and a working clinician workspace.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4663440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CEE2A9"/>
                </a:solidFill>
                <a:latin typeface="Liberation Sans"/>
              </a:defRPr>
            </a:pPr>
            <a:r>
              <a:t>Team / institution details: PENDING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5065776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CEE2A9"/>
                </a:solidFill>
                <a:latin typeface="Liberation Sans"/>
              </a:defRPr>
            </a:pPr>
            <a:r>
              <a:t>Public GitHub + signed-out file checks: PENDING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5468112"/>
            <a:ext cx="10789920" cy="32004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400" b="0">
                <a:solidFill>
                  <a:srgbClr val="CEE2A9"/>
                </a:solidFill>
                <a:latin typeface="Liberation Sans"/>
              </a:defRPr>
            </a:pPr>
            <a:r>
              <a:t>Actual20min Unlisted YouTube upload: PENDING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6053328"/>
            <a:ext cx="10881360" cy="256032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lnSpc>
                <a:spcPct val="107000"/>
              </a:lnSpc>
              <a:spcAft>
                <a:spcPts val="500"/>
              </a:spcAft>
              <a:defRPr sz="1200" b="1">
                <a:solidFill>
                  <a:srgbClr val="D5BDA1"/>
                </a:solidFill>
                <a:latin typeface="Liberation Sans"/>
              </a:defRPr>
            </a:pPr>
            <a:r>
              <a:t>NOT FULLY SUBMISSION-READY until the mandatory external items are genuinely complete.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PranaGuard — Body × Environment Digital Twin</dc:title>
  <dc:subject>Synthetic COPD research prototype; actual negative and positive experiment results</dc:subject>
  <dc:creator>PranaGuard contributors (team details pending)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