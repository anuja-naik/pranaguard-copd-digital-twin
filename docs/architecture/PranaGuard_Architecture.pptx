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2801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100" b="1">
                <a:solidFill>
                  <a:srgbClr val="287E68"/>
                </a:solidFill>
                <a:latin typeface="Liberation Sans"/>
              </a:defRPr>
            </a:pPr>
            <a:r>
              <a:t>PRANAGUARD  /  IMPLEMENTED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33502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A persistent twin, not a static score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11880" y="2340864"/>
            <a:ext cx="384048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104888" y="2340864"/>
            <a:ext cx="384048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97896" y="2340864"/>
            <a:ext cx="384048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36424" y="3035808"/>
            <a:ext cx="0" cy="484632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597896" y="4215384"/>
            <a:ext cx="384048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104888" y="4215384"/>
            <a:ext cx="384048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611880" y="4215384"/>
            <a:ext cx="384048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57400" y="4910328"/>
            <a:ext cx="0" cy="484632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11880" y="6089904"/>
            <a:ext cx="384048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536424" y="4910328"/>
            <a:ext cx="0" cy="210312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057400" y="5120640"/>
            <a:ext cx="10479024" cy="0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57400" y="4910328"/>
            <a:ext cx="0" cy="210312"/>
          </a:xfrm>
          <a:prstGeom prst="line">
            <a:avLst/>
          </a:prstGeom>
          <a:ln w="11430">
            <a:solidFill>
              <a:srgbClr val="799885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0" y="4901184"/>
            <a:ext cx="36576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6C8274"/>
                </a:solidFill>
                <a:latin typeface="Liberation Sans"/>
              </a:defRPr>
            </a:pPr>
            <a:r>
              <a:t>prediction → atomic state persistence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2536424" y="1444752"/>
            <a:ext cx="0" cy="201168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96912" y="1444752"/>
            <a:ext cx="5239512" cy="0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96912" y="1444752"/>
            <a:ext cx="0" cy="1847088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50408" y="3291840"/>
            <a:ext cx="1746504" cy="0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50408" y="3291840"/>
            <a:ext cx="0" cy="228600"/>
          </a:xfrm>
          <a:prstGeom prst="line">
            <a:avLst/>
          </a:prstGeom>
          <a:ln w="11430">
            <a:solidFill>
              <a:srgbClr val="799885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60920" y="1252728"/>
            <a:ext cx="45720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6C8274"/>
                </a:solidFill>
                <a:latin typeface="Liberation Sans"/>
              </a:defRPr>
            </a:pPr>
            <a:r>
              <a:t>twin observed past → independent scenario branch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64592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175564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173736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Data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218541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Synthetic clinical/body/symptom streams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Real cached ambient/weather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278892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generate_data.py · environment cache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95928" y="164592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23944" y="175564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173736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Ingestion &amp; replay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42232" y="218541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Seeded hourly observations · UTC clock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Deterministic cohort-wide updates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2232" y="278892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engine.py · replay task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88936" y="164592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16952" y="175564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173736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Validation &amp;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18541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Schema/ranges/time alignment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Causal 6h/24h windows; train-only imputation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78892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validation.py · features.py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81944" y="164592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9960" y="175564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173736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Digital-twin 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8248" y="218541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Persistent patient identity + baseline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Current state, missingness and versions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28248" y="278892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engine.py · first72h baseline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81944" y="352044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09960" y="363016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03152" y="361188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ML &amp; calibration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28248" y="405993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Separate 24h / 48h / 72h LightGBM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Separate Platt models; LR baseline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28248" y="466344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ml.py · models.joblib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88936" y="352044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16952" y="363016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0144" y="361188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Explainability &amp; alerts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405993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On-demand native TreeSHAP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Threshold alerts and contribution deltas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66344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ml.py · engine.py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95928" y="352044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23944" y="363016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17136" y="361188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What-if simulation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42232" y="405993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Clone observed past; projected branches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No future rows; original state preserved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42232" y="466344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engine.py · scenarios table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352044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" y="363016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" y="361188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SQLite persistence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" y="405993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States + cursor + alerts + actions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Separate scenarios; atomic transactions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" y="466344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store.py · SQLite WAL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39496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" y="550468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" y="548640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FastAPI APIs / WS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" y="593445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REST inference/review/replay endpoints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WebSocket invalidation; optional write token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" y="653796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main.py · /docs · /api/ws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995928" y="5394960"/>
            <a:ext cx="3108960" cy="138988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23944" y="5504688"/>
            <a:ext cx="33832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1">
                <a:solidFill>
                  <a:srgbClr val="287E68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17136" y="5486400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1">
                <a:solidFill>
                  <a:srgbClr val="163E35"/>
                </a:solidFill>
                <a:latin typeface="Liberation Sans"/>
              </a:defRPr>
            </a:pPr>
            <a:r>
              <a:t>React dashboard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42232" y="5934456"/>
            <a:ext cx="2816352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7 clinician views · actual API charts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019" b="0">
                <a:solidFill>
                  <a:srgbClr val="6C8274"/>
                </a:solidFill>
                <a:latin typeface="Liberation Sans"/>
              </a:defRPr>
            </a:pPr>
            <a:r>
              <a:t>Search, review, replay, scenarios, export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42232" y="6537960"/>
            <a:ext cx="2816352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10" b="0">
                <a:solidFill>
                  <a:srgbClr val="287E68"/>
                </a:solidFill>
                <a:latin typeface="Liberation Sans"/>
              </a:defRPr>
            </a:pPr>
            <a:r>
              <a:t>React · TS · Vite · Tailwind · Recharts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88936" y="5394960"/>
            <a:ext cx="6601968" cy="1389888"/>
          </a:xfrm>
          <a:prstGeom prst="roundRect">
            <a:avLst>
              <a:gd name="adj" fmla="val 12000"/>
            </a:avLst>
          </a:prstGeom>
          <a:solidFill>
            <a:srgbClr val="E9F0E2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71816" y="5577840"/>
            <a:ext cx="62179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1">
                <a:solidFill>
                  <a:srgbClr val="163E35"/>
                </a:solidFill>
                <a:latin typeface="Liberation Sans"/>
              </a:defRPr>
            </a:pPr>
            <a:r>
              <a:t>Offline training &amp; evaluation artifacts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71816" y="6080760"/>
            <a:ext cx="6217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100" b="0">
                <a:solidFill>
                  <a:srgbClr val="6C8274"/>
                </a:solidFill>
                <a:latin typeface="Liberation Sans"/>
              </a:defRPr>
            </a:pPr>
            <a:r>
              <a:t>15 executed experiments · patient/time-disjoint splits · ≥72h purge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100" b="0">
                <a:solidFill>
                  <a:srgbClr val="6C8274"/>
                </a:solidFill>
                <a:latin typeface="Liberation Sans"/>
              </a:defRPr>
            </a:pPr>
            <a:r>
              <a:t>Models, calibration, ROC/PR, ablations and provenance versioned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7205472"/>
            <a:ext cx="1362456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100" b="0">
                <a:solidFill>
                  <a:srgbClr val="6C8274"/>
                </a:solidFill>
                <a:latin typeface="Liberation Sans"/>
              </a:defRPr>
            </a:pPr>
            <a:r>
              <a:t>Solid arrows: logical capability chain. Dashed: cross-cutting runtime branches. SQLite writes occur on every twin update; explanations and scenarios are API-triggered. All patients synthetic; cached ambient data are historical. The 72h model is weak and its calibration slope is negative.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7909560"/>
            <a:ext cx="1362456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RESEARCH PROTOTYPE · NO CLINICAL VALIDATION · ORIGINAL EDITABLE VECTOR SHAPES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